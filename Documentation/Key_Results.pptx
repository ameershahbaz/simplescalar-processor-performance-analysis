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4" r:id="rId7"/>
    <p:sldId id="275" r:id="rId8"/>
    <p:sldId id="276" r:id="rId9"/>
    <p:sldId id="260" r:id="rId10"/>
    <p:sldId id="261" r:id="rId11"/>
    <p:sldId id="270" r:id="rId12"/>
    <p:sldId id="277" r:id="rId13"/>
    <p:sldId id="262" r:id="rId14"/>
    <p:sldId id="271" r:id="rId15"/>
    <p:sldId id="278" r:id="rId16"/>
    <p:sldId id="263" r:id="rId17"/>
    <p:sldId id="264" r:id="rId18"/>
    <p:sldId id="272" r:id="rId19"/>
    <p:sldId id="279" r:id="rId20"/>
    <p:sldId id="280" r:id="rId21"/>
    <p:sldId id="281" r:id="rId22"/>
    <p:sldId id="282" r:id="rId23"/>
    <p:sldId id="283" r:id="rId24"/>
    <p:sldId id="284" r:id="rId25"/>
    <p:sldId id="265" r:id="rId26"/>
    <p:sldId id="266" r:id="rId27"/>
    <p:sldId id="273" r:id="rId28"/>
    <p:sldId id="285" r:id="rId29"/>
    <p:sldId id="267" r:id="rId30"/>
    <p:sldId id="268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eer Shahbaz" initials="AS" lastIdx="1" clrIdx="0">
    <p:extLst>
      <p:ext uri="{19B8F6BF-5375-455C-9EA6-DF929625EA0E}">
        <p15:presenceInfo xmlns:p15="http://schemas.microsoft.com/office/powerpoint/2012/main" userId="df58d739b00de6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5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IFQ</c:v>
                </c:pt>
                <c:pt idx="1">
                  <c:v>Decode Width</c:v>
                </c:pt>
                <c:pt idx="2">
                  <c:v>Issue Width</c:v>
                </c:pt>
                <c:pt idx="3">
                  <c:v>Total Units</c:v>
                </c:pt>
                <c:pt idx="4">
                  <c:v>sim_cycle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4</c:v>
                </c:pt>
                <c:pt idx="3">
                  <c:v>7</c:v>
                </c:pt>
                <c:pt idx="4">
                  <c:v>1317735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7A-453D-95D8-120724EEA0A9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IFQ</c:v>
                </c:pt>
                <c:pt idx="1">
                  <c:v>Decode Width</c:v>
                </c:pt>
                <c:pt idx="2">
                  <c:v>Issue Width</c:v>
                </c:pt>
                <c:pt idx="3">
                  <c:v>Total Units</c:v>
                </c:pt>
                <c:pt idx="4">
                  <c:v>sim_cycle</c:v>
                </c:pt>
              </c:strCache>
            </c:strRef>
          </c:cat>
          <c:val>
            <c:numRef>
              <c:f>Sheet1!$B$3:$F$3</c:f>
              <c:numCache>
                <c:formatCode>General</c:formatCode>
                <c:ptCount val="5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7</c:v>
                </c:pt>
                <c:pt idx="4">
                  <c:v>1320563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7A-453D-95D8-120724EEA0A9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IFQ</c:v>
                </c:pt>
                <c:pt idx="1">
                  <c:v>Decode Width</c:v>
                </c:pt>
                <c:pt idx="2">
                  <c:v>Issue Width</c:v>
                </c:pt>
                <c:pt idx="3">
                  <c:v>Total Units</c:v>
                </c:pt>
                <c:pt idx="4">
                  <c:v>sim_cycle</c:v>
                </c:pt>
              </c:strCache>
            </c:strRef>
          </c:cat>
          <c:val>
            <c:numRef>
              <c:f>Sheet1!$B$4:$F$4</c:f>
              <c:numCache>
                <c:formatCode>General</c:formatCode>
                <c:ptCount val="5"/>
                <c:pt idx="0">
                  <c:v>4</c:v>
                </c:pt>
                <c:pt idx="1">
                  <c:v>2</c:v>
                </c:pt>
                <c:pt idx="2">
                  <c:v>1</c:v>
                </c:pt>
                <c:pt idx="3">
                  <c:v>7</c:v>
                </c:pt>
                <c:pt idx="4">
                  <c:v>1316840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7A-453D-95D8-120724EEA0A9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IFQ</c:v>
                </c:pt>
                <c:pt idx="1">
                  <c:v>Decode Width</c:v>
                </c:pt>
                <c:pt idx="2">
                  <c:v>Issue Width</c:v>
                </c:pt>
                <c:pt idx="3">
                  <c:v>Total Units</c:v>
                </c:pt>
                <c:pt idx="4">
                  <c:v>sim_cycle</c:v>
                </c:pt>
              </c:strCache>
            </c:strRef>
          </c:cat>
          <c:val>
            <c:numRef>
              <c:f>Sheet1!$B$5:$F$5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1</c:v>
                </c:pt>
                <c:pt idx="3">
                  <c:v>7</c:v>
                </c:pt>
                <c:pt idx="4">
                  <c:v>1317219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F7A-453D-95D8-120724EEA0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8567456"/>
        <c:axId val="1518568416"/>
      </c:barChart>
      <c:catAx>
        <c:axId val="1518567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8568416"/>
        <c:crosses val="autoZero"/>
        <c:auto val="1"/>
        <c:lblAlgn val="ctr"/>
        <c:lblOffset val="100"/>
        <c:noMultiLvlLbl val="0"/>
      </c:catAx>
      <c:valAx>
        <c:axId val="1518568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8567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9748"/>
            <a:ext cx="7772400" cy="1470025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rgbClr val="162D4E"/>
                </a:solidFill>
                <a:latin typeface="Calibri"/>
              </a:rPr>
              <a:t>COA/CA Project Methodology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09772"/>
            <a:ext cx="6400800" cy="2427305"/>
          </a:xfrm>
        </p:spPr>
        <p:txBody>
          <a:bodyPr>
            <a:normAutofit/>
          </a:bodyPr>
          <a:lstStyle/>
          <a:p>
            <a:pPr algn="just"/>
            <a:r>
              <a:rPr sz="2400" dirty="0">
                <a:solidFill>
                  <a:srgbClr val="323232"/>
                </a:solidFill>
                <a:latin typeface="Calibri"/>
              </a:rPr>
              <a:t>Processor Analysis using the </a:t>
            </a:r>
            <a:r>
              <a:rPr sz="2400" dirty="0" err="1">
                <a:solidFill>
                  <a:srgbClr val="323232"/>
                </a:solidFill>
                <a:latin typeface="Calibri"/>
              </a:rPr>
              <a:t>SimpleScalar</a:t>
            </a:r>
            <a:r>
              <a:rPr sz="2400" dirty="0">
                <a:solidFill>
                  <a:srgbClr val="323232"/>
                </a:solidFill>
                <a:latin typeface="Calibri"/>
              </a:rPr>
              <a:t> Simulator</a:t>
            </a:r>
          </a:p>
          <a:p>
            <a:pPr algn="just"/>
            <a:r>
              <a:rPr sz="2400" dirty="0">
                <a:solidFill>
                  <a:srgbClr val="323232"/>
                </a:solidFill>
                <a:latin typeface="Calibri"/>
              </a:rPr>
              <a:t>Benchmarks Utilized: </a:t>
            </a:r>
            <a:r>
              <a:rPr sz="2400" dirty="0" err="1">
                <a:solidFill>
                  <a:srgbClr val="323232"/>
                </a:solidFill>
                <a:latin typeface="Calibri"/>
              </a:rPr>
              <a:t>go.ss</a:t>
            </a:r>
            <a:r>
              <a:rPr sz="2400" dirty="0">
                <a:solidFill>
                  <a:srgbClr val="323232"/>
                </a:solidFill>
                <a:latin typeface="Calibri"/>
              </a:rPr>
              <a:t>, gcc95.ss, and </a:t>
            </a:r>
            <a:r>
              <a:rPr sz="2400" dirty="0" err="1">
                <a:solidFill>
                  <a:srgbClr val="323232"/>
                </a:solidFill>
                <a:latin typeface="Calibri"/>
              </a:rPr>
              <a:t>ijpeg.ss</a:t>
            </a:r>
            <a:endParaRPr sz="4000" dirty="0"/>
          </a:p>
          <a:p>
            <a:pPr algn="just"/>
            <a:r>
              <a:rPr sz="2400" dirty="0">
                <a:solidFill>
                  <a:srgbClr val="323232"/>
                </a:solidFill>
                <a:latin typeface="Calibri"/>
              </a:rPr>
              <a:t>Simulation Tool: sim-</a:t>
            </a:r>
            <a:r>
              <a:rPr sz="2400" dirty="0" err="1">
                <a:solidFill>
                  <a:srgbClr val="323232"/>
                </a:solidFill>
                <a:latin typeface="Calibri"/>
              </a:rPr>
              <a:t>outorder</a:t>
            </a:r>
            <a:r>
              <a:rPr sz="2400" dirty="0">
                <a:solidFill>
                  <a:srgbClr val="323232"/>
                </a:solidFill>
                <a:latin typeface="Calibri"/>
              </a:rPr>
              <a:t> executed on Ubuntu via Oracle VM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0548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7D9C2C-6669-70D3-E792-E78EDD627E8A}"/>
              </a:ext>
            </a:extLst>
          </p:cNvPr>
          <p:cNvSpPr txBox="1"/>
          <p:nvPr/>
        </p:nvSpPr>
        <p:spPr>
          <a:xfrm>
            <a:off x="991402" y="5062888"/>
            <a:ext cx="7055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Roll no: BSEE23038</a:t>
            </a:r>
          </a:p>
          <a:p>
            <a:endParaRPr lang="en-US" dirty="0"/>
          </a:p>
          <a:p>
            <a:r>
              <a:rPr lang="en-US"/>
              <a:t>Roll no: BSEE23016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162D4E"/>
                </a:solidFill>
                <a:latin typeface="Calibri"/>
              </a:rP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323232"/>
                </a:solidFill>
                <a:latin typeface="Calibri"/>
              </a:rPr>
              <a:t>Modified processor, cache, and branch predictor parameters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Executed simulations using sim-outorder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Redirected simulation outputs to .txt files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Extracted required statistics using grep commands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Prepared tables, graphs, and comparative analyses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162D4E"/>
                </a:solidFill>
                <a:latin typeface="Calibri"/>
              </a:rPr>
              <a:t>Part I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323232"/>
                </a:solidFill>
                <a:latin typeface="Calibri"/>
              </a:rPr>
              <a:t>Benchmarks Selected: go.ss and gcc95.ss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Evaluated Small, Medium, Large, and Excessive cache configurations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Configured cache parameters using -cache:il1, -cache:dl1, -cache:dl2, and -cache:il2 options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Recorded sim_cycle and sim_CPI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162D4E"/>
                </a:solidFill>
                <a:latin typeface="Calibri"/>
              </a:rPr>
              <a:t>Part I Output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323232"/>
                </a:solidFill>
                <a:latin typeface="Calibri"/>
              </a:rPr>
              <a:t>Extracted sim_cycle values using grep sim_cycle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Extracted sim_CPI values using grep sim_CPI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Compared execution cycles and CPI across multiple configurations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Generated graphs with memory model size represented on the X-axis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2835-1947-4DB8-B885-9DF519135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CD8E0-63F2-49F6-AD69-89A08E9B5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1254"/>
            <a:ext cx="8229600" cy="49549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						For gcc95.ss</a:t>
            </a:r>
          </a:p>
          <a:p>
            <a:pPr marL="0" indent="0">
              <a:buNone/>
            </a:pPr>
            <a:r>
              <a:rPr lang="en-AU" dirty="0"/>
              <a:t> </a:t>
            </a:r>
            <a:r>
              <a:rPr lang="en-AU" sz="2000" dirty="0"/>
              <a:t>Small Processor:</a:t>
            </a:r>
          </a:p>
          <a:p>
            <a:pPr marL="0" indent="0">
              <a:buNone/>
            </a:pPr>
            <a:r>
              <a:rPr lang="en-AU" sz="2000" dirty="0"/>
              <a:t>	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22F766-81B9-3E56-0723-0CA1DDDB7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089" y="1796916"/>
            <a:ext cx="4926458" cy="506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7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0BA00E-2444-31BD-09D0-DA3BE08733B8}"/>
              </a:ext>
            </a:extLst>
          </p:cNvPr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399C6-23F8-59DA-E609-C0C83E58DD80}"/>
              </a:ext>
            </a:extLst>
          </p:cNvPr>
          <p:cNvSpPr txBox="1"/>
          <p:nvPr/>
        </p:nvSpPr>
        <p:spPr>
          <a:xfrm>
            <a:off x="636999" y="1079325"/>
            <a:ext cx="2005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Medium Processor: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3723D-24F8-FF5D-C601-AA19FE87BC62}"/>
              </a:ext>
            </a:extLst>
          </p:cNvPr>
          <p:cNvSpPr txBox="1"/>
          <p:nvPr/>
        </p:nvSpPr>
        <p:spPr>
          <a:xfrm>
            <a:off x="3236360" y="572784"/>
            <a:ext cx="2876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For gcc95.ss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07232E-8FC6-8735-3F9E-CE4DEC7E7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9" y="1574528"/>
            <a:ext cx="3726879" cy="52834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42E77D-C9FC-4576-B510-20DF2A4650C1}"/>
              </a:ext>
            </a:extLst>
          </p:cNvPr>
          <p:cNvSpPr txBox="1"/>
          <p:nvPr/>
        </p:nvSpPr>
        <p:spPr>
          <a:xfrm>
            <a:off x="5681608" y="1079325"/>
            <a:ext cx="2465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 Processor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348805-CF7C-C400-18E0-6AB62D5D0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210" y="1555477"/>
            <a:ext cx="3976098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74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A8B1F-C209-3FE2-82BB-A38E8483F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0DAAAC-7C8B-9493-D03B-84C3026CA087}"/>
              </a:ext>
            </a:extLst>
          </p:cNvPr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852EE-0877-7015-9374-90E0A6FBD640}"/>
              </a:ext>
            </a:extLst>
          </p:cNvPr>
          <p:cNvSpPr txBox="1"/>
          <p:nvPr/>
        </p:nvSpPr>
        <p:spPr>
          <a:xfrm>
            <a:off x="174987" y="1608714"/>
            <a:ext cx="208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Excessive Processor: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F2E7-064C-38E3-881B-EFDC86E92C9B}"/>
              </a:ext>
            </a:extLst>
          </p:cNvPr>
          <p:cNvSpPr txBox="1"/>
          <p:nvPr/>
        </p:nvSpPr>
        <p:spPr>
          <a:xfrm>
            <a:off x="3236360" y="572784"/>
            <a:ext cx="2876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For gcc95.ss</a:t>
            </a:r>
            <a:endParaRPr lang="en-US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84F095-D3DE-7547-5424-8B55AB57A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815" y="1263991"/>
            <a:ext cx="5639090" cy="550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47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A044F-EF33-36EE-4873-EAEEF1BD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A93827-547C-DD36-B9D6-1C7213B60C0E}"/>
              </a:ext>
            </a:extLst>
          </p:cNvPr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057D9-C8B2-C593-B029-5F21F81BB936}"/>
              </a:ext>
            </a:extLst>
          </p:cNvPr>
          <p:cNvSpPr txBox="1"/>
          <p:nvPr/>
        </p:nvSpPr>
        <p:spPr>
          <a:xfrm>
            <a:off x="3236360" y="572784"/>
            <a:ext cx="2876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For gcc95.ss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3E48BC-0F93-A8CD-CA74-7242FA772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47" y="1842497"/>
            <a:ext cx="4146569" cy="3489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650971-CFFE-556E-D48F-56936F1F2DFA}"/>
              </a:ext>
            </a:extLst>
          </p:cNvPr>
          <p:cNvSpPr txBox="1"/>
          <p:nvPr/>
        </p:nvSpPr>
        <p:spPr>
          <a:xfrm>
            <a:off x="943276" y="1317077"/>
            <a:ext cx="280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Execution Time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7C3026-6E21-8552-6420-0EEB47B14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851" y="1746090"/>
            <a:ext cx="4896102" cy="35863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953CDD-DD21-17AD-3D39-0636B84CD5A1}"/>
              </a:ext>
            </a:extLst>
          </p:cNvPr>
          <p:cNvSpPr txBox="1"/>
          <p:nvPr/>
        </p:nvSpPr>
        <p:spPr>
          <a:xfrm>
            <a:off x="6216001" y="1321385"/>
            <a:ext cx="280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CD27E-7AA5-77DA-45C6-6BAFAF257B6D}"/>
              </a:ext>
            </a:extLst>
          </p:cNvPr>
          <p:cNvSpPr txBox="1"/>
          <p:nvPr/>
        </p:nvSpPr>
        <p:spPr>
          <a:xfrm>
            <a:off x="1299411" y="6285216"/>
            <a:ext cx="6718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Rest of the Screenshots and Values are shown in Appendix</a:t>
            </a:r>
          </a:p>
        </p:txBody>
      </p:sp>
    </p:spTree>
    <p:extLst>
      <p:ext uri="{BB962C8B-B14F-4D97-AF65-F5344CB8AC3E}">
        <p14:creationId xmlns:p14="http://schemas.microsoft.com/office/powerpoint/2010/main" val="408128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162D4E"/>
                </a:solidFill>
                <a:latin typeface="Calibri"/>
              </a:rPr>
              <a:t>Part II(a)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323232"/>
                </a:solidFill>
                <a:latin typeface="Calibri"/>
              </a:rPr>
              <a:t>Compared branch predictors using ijpeg.ss with large.ppm input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Evaluated Bimodal predictor configurations: 512, 1024, and 2048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Evaluated 2-Level predictors with varying history widths and table entries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Implemented Combination predictors integrating Bimodal and 2-Level schemes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162D4E"/>
                </a:solidFill>
                <a:latin typeface="Calibri"/>
              </a:rPr>
              <a:t>Part II(a)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323232"/>
                </a:solidFill>
                <a:latin typeface="Calibri"/>
              </a:rPr>
              <a:t>Extracted directional hits and miss statistics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Utilized grep commands for bpred_bimod, bpred_2lev, and bpred_comb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Prepared comparative performance tables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Generated branch predictor performance graphs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C7EB5-01F0-4810-A9DF-6D065DB1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8D72EC-83D5-EF16-D85D-3436B87C3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31" y="2038758"/>
            <a:ext cx="4235115" cy="31053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2CD6D0-7225-5620-EE71-EB1CCE053D73}"/>
              </a:ext>
            </a:extLst>
          </p:cNvPr>
          <p:cNvSpPr txBox="1"/>
          <p:nvPr/>
        </p:nvSpPr>
        <p:spPr>
          <a:xfrm>
            <a:off x="933651" y="1417638"/>
            <a:ext cx="3282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Bimodal Size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6EA1AF-7BD9-F387-131F-A0139E9BF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63" y="2038758"/>
            <a:ext cx="4711942" cy="31053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1B3536-13A7-56E4-E155-6327CD6417C6}"/>
              </a:ext>
            </a:extLst>
          </p:cNvPr>
          <p:cNvSpPr txBox="1"/>
          <p:nvPr/>
        </p:nvSpPr>
        <p:spPr>
          <a:xfrm>
            <a:off x="5496025" y="1417638"/>
            <a:ext cx="271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2-Level Width Comparison</a:t>
            </a:r>
          </a:p>
        </p:txBody>
      </p:sp>
    </p:spTree>
    <p:extLst>
      <p:ext uri="{BB962C8B-B14F-4D97-AF65-F5344CB8AC3E}">
        <p14:creationId xmlns:p14="http://schemas.microsoft.com/office/powerpoint/2010/main" val="631123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D9EBE-268F-1F7C-4EB9-77D401AC5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AC549-A289-6F1B-C1E0-25806C488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76F49-F198-0268-1138-56C8EE4DB466}"/>
              </a:ext>
            </a:extLst>
          </p:cNvPr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7D4756-B09C-FE64-F5A3-AA01C013F1A0}"/>
              </a:ext>
            </a:extLst>
          </p:cNvPr>
          <p:cNvSpPr txBox="1"/>
          <p:nvPr/>
        </p:nvSpPr>
        <p:spPr>
          <a:xfrm>
            <a:off x="3327530" y="1406630"/>
            <a:ext cx="3282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Combination Predictor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5FAA6-DDB5-4FA5-56FA-D0BF13B9D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387" y="2142819"/>
            <a:ext cx="4586570" cy="349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08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4912"/>
            <a:ext cx="8229600" cy="1143000"/>
          </a:xfrm>
        </p:spPr>
        <p:txBody>
          <a:bodyPr>
            <a:normAutofit/>
          </a:bodyPr>
          <a:lstStyle/>
          <a:p>
            <a:r>
              <a:rPr sz="3600" b="1">
                <a:solidFill>
                  <a:srgbClr val="162D4E"/>
                </a:solidFill>
                <a:latin typeface="Calibri"/>
              </a:rPr>
              <a:t>Part II(b) BTB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0474"/>
            <a:ext cx="8229600" cy="4525963"/>
          </a:xfrm>
        </p:spPr>
        <p:txBody>
          <a:bodyPr>
            <a:normAutofit/>
          </a:bodyPr>
          <a:lstStyle/>
          <a:p>
            <a:r>
              <a:rPr sz="2400">
                <a:solidFill>
                  <a:srgbClr val="323232"/>
                </a:solidFill>
                <a:latin typeface="Calibri"/>
              </a:rPr>
              <a:t>Compared BTB performance using addr_hits statistics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Varied the number of BTB sets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Analyzed different associativity configurations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Compared configurations with a fixed total BTB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274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27EE-3965-414E-A8B4-CFDB32CE9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F3B531-3231-0A56-DB36-2B41F02A7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01" y="2646947"/>
            <a:ext cx="4482464" cy="34554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403022-5835-BEE1-7990-9393BCBB4331}"/>
              </a:ext>
            </a:extLst>
          </p:cNvPr>
          <p:cNvSpPr txBox="1"/>
          <p:nvPr/>
        </p:nvSpPr>
        <p:spPr>
          <a:xfrm>
            <a:off x="952901" y="1742173"/>
            <a:ext cx="3619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BTB Associativity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B2E255-81B7-0603-096F-8CF17371A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2646947"/>
            <a:ext cx="4571999" cy="34990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8577B2-0AE3-5484-6AAA-079212BD06A5}"/>
              </a:ext>
            </a:extLst>
          </p:cNvPr>
          <p:cNvSpPr txBox="1"/>
          <p:nvPr/>
        </p:nvSpPr>
        <p:spPr>
          <a:xfrm>
            <a:off x="6429676" y="1731899"/>
            <a:ext cx="271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BTB Sets</a:t>
            </a:r>
          </a:p>
        </p:txBody>
      </p:sp>
    </p:spTree>
    <p:extLst>
      <p:ext uri="{BB962C8B-B14F-4D97-AF65-F5344CB8AC3E}">
        <p14:creationId xmlns:p14="http://schemas.microsoft.com/office/powerpoint/2010/main" val="1116515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8C249F-40E1-C01C-7212-91518D19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03B1-691A-FCEA-1C68-A4986988D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CDA2F5-CF85-2921-D639-CFF685B44E84}"/>
              </a:ext>
            </a:extLst>
          </p:cNvPr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41D1F2-B6A4-979E-6061-2483EC35646F}"/>
              </a:ext>
            </a:extLst>
          </p:cNvPr>
          <p:cNvSpPr txBox="1"/>
          <p:nvPr/>
        </p:nvSpPr>
        <p:spPr>
          <a:xfrm>
            <a:off x="3593359" y="1742173"/>
            <a:ext cx="3619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Fixed BTB Size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0B096-D785-8CE9-1F41-CF3C3CE63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831" y="2265208"/>
            <a:ext cx="4788146" cy="33188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A3E7D1-21B6-8F99-C95C-C54E39F32924}"/>
              </a:ext>
            </a:extLst>
          </p:cNvPr>
          <p:cNvSpPr txBox="1"/>
          <p:nvPr/>
        </p:nvSpPr>
        <p:spPr>
          <a:xfrm>
            <a:off x="2054831" y="6431622"/>
            <a:ext cx="508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Exact values, given both in excel and appendix</a:t>
            </a:r>
          </a:p>
        </p:txBody>
      </p:sp>
    </p:spTree>
    <p:extLst>
      <p:ext uri="{BB962C8B-B14F-4D97-AF65-F5344CB8AC3E}">
        <p14:creationId xmlns:p14="http://schemas.microsoft.com/office/powerpoint/2010/main" val="1297064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162D4E"/>
                </a:solidFill>
                <a:latin typeface="Calibri"/>
              </a:rPr>
              <a:t>Part III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323232"/>
                </a:solidFill>
                <a:latin typeface="Calibri"/>
              </a:rPr>
              <a:t>Selected Benchmark: ijpeg.ss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Compared bimod, taken, nottaken, and 2-level branch predictors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Analyzed IFQ size, decode width, and issue width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Compared in-order and out-of-order execution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162D4E"/>
                </a:solidFill>
                <a:latin typeface="Calibri"/>
              </a:rPr>
              <a:t>Part III Cache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323232"/>
                </a:solidFill>
                <a:latin typeface="Calibri"/>
              </a:rPr>
              <a:t>Varied Data Cache L1 parameters: nsets, block size, and associativity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Varied Instruction Cache L1 parameters: nsets, block size, and associativity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Extracted cache hit-rate and miss-rate statistics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Plotted cache performance evaluation graphs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9D8FD-F637-4051-8B91-5FE3DDBB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BAB914-E25C-E454-DC46-D42C3DAD1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8" y="2362379"/>
            <a:ext cx="4663772" cy="32370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53C5-6E83-9CE8-8AFB-1306ACE51E34}"/>
              </a:ext>
            </a:extLst>
          </p:cNvPr>
          <p:cNvSpPr txBox="1"/>
          <p:nvPr/>
        </p:nvSpPr>
        <p:spPr>
          <a:xfrm>
            <a:off x="770910" y="1705342"/>
            <a:ext cx="3400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Branch Predictor Comparison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9793CF-E154-3C13-6C7E-F2C547BB1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290" y="2362379"/>
            <a:ext cx="4400776" cy="32370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7E488C-71C2-6541-6036-73F7D81F0D67}"/>
              </a:ext>
            </a:extLst>
          </p:cNvPr>
          <p:cNvSpPr txBox="1"/>
          <p:nvPr/>
        </p:nvSpPr>
        <p:spPr>
          <a:xfrm>
            <a:off x="5547697" y="1705342"/>
            <a:ext cx="2825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Bimodal Size vs Miss Rate</a:t>
            </a:r>
          </a:p>
        </p:txBody>
      </p:sp>
    </p:spTree>
    <p:extLst>
      <p:ext uri="{BB962C8B-B14F-4D97-AF65-F5344CB8AC3E}">
        <p14:creationId xmlns:p14="http://schemas.microsoft.com/office/powerpoint/2010/main" val="3469346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9EDFC-580E-065E-4934-9FD16CBD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842D-841A-6570-67C9-E7F4481B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20E349-80DF-6683-0C31-D2F43797CDAA}"/>
              </a:ext>
            </a:extLst>
          </p:cNvPr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548A0-C3A6-C96C-2586-BE59BC7616AA}"/>
              </a:ext>
            </a:extLst>
          </p:cNvPr>
          <p:cNvSpPr txBox="1"/>
          <p:nvPr/>
        </p:nvSpPr>
        <p:spPr>
          <a:xfrm>
            <a:off x="1315092" y="1705342"/>
            <a:ext cx="3400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IFQ Size vs IPC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D05BED-6FA8-8718-6B75-89622406D011}"/>
              </a:ext>
            </a:extLst>
          </p:cNvPr>
          <p:cNvSpPr txBox="1"/>
          <p:nvPr/>
        </p:nvSpPr>
        <p:spPr>
          <a:xfrm>
            <a:off x="5547697" y="1705342"/>
            <a:ext cx="2825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Decode Width vs Cycles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54A1C-BF6B-6455-6235-51914949A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378"/>
            <a:ext cx="4572000" cy="35174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C3320F-EB9C-87F2-69A2-B55149A45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867" y="2362378"/>
            <a:ext cx="4534133" cy="351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87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B95CC-8C9C-4830-B41A-72F03EFC9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37AC-B1FD-CE3F-0653-C1319BF1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A6D2A-20E4-23FF-4496-0B1AFD5FEA4F}"/>
              </a:ext>
            </a:extLst>
          </p:cNvPr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4A33F1-50DC-792C-6B2C-851136C5E87E}"/>
              </a:ext>
            </a:extLst>
          </p:cNvPr>
          <p:cNvSpPr txBox="1"/>
          <p:nvPr/>
        </p:nvSpPr>
        <p:spPr>
          <a:xfrm>
            <a:off x="1140084" y="1648412"/>
            <a:ext cx="2825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Issue Width vs Cycles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E208E1-798B-5811-B961-9781AEC78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0459"/>
            <a:ext cx="4534133" cy="3517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D52431-18C6-9431-744B-94A2856E3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636" y="2290459"/>
            <a:ext cx="4534133" cy="35174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E34097-B9EE-0DB7-A5C8-BBCE208C3923}"/>
              </a:ext>
            </a:extLst>
          </p:cNvPr>
          <p:cNvSpPr txBox="1"/>
          <p:nvPr/>
        </p:nvSpPr>
        <p:spPr>
          <a:xfrm>
            <a:off x="5393933" y="1648598"/>
            <a:ext cx="3380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both IFQ and decode width are changed</a:t>
            </a:r>
          </a:p>
        </p:txBody>
      </p:sp>
    </p:spTree>
    <p:extLst>
      <p:ext uri="{BB962C8B-B14F-4D97-AF65-F5344CB8AC3E}">
        <p14:creationId xmlns:p14="http://schemas.microsoft.com/office/powerpoint/2010/main" val="4245814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9E952-77E8-0118-9432-8EACA548B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7CAD-83D7-1112-EA69-C180E795E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E665FD-970A-313E-BCF5-163C0B04BA89}"/>
              </a:ext>
            </a:extLst>
          </p:cNvPr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00B4A4-F1AC-A422-2337-5552CF83D6D1}"/>
              </a:ext>
            </a:extLst>
          </p:cNvPr>
          <p:cNvSpPr txBox="1"/>
          <p:nvPr/>
        </p:nvSpPr>
        <p:spPr>
          <a:xfrm>
            <a:off x="842133" y="1671617"/>
            <a:ext cx="2825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In-order vs Out-of-order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3EF7CD-8486-16BB-6780-F5325F5FC9EB}"/>
              </a:ext>
            </a:extLst>
          </p:cNvPr>
          <p:cNvSpPr txBox="1"/>
          <p:nvPr/>
        </p:nvSpPr>
        <p:spPr>
          <a:xfrm>
            <a:off x="5393933" y="1671617"/>
            <a:ext cx="3380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DCache</a:t>
            </a:r>
            <a:r>
              <a:rPr lang="en-US" dirty="0"/>
              <a:t> Hit Rate vs </a:t>
            </a:r>
            <a:r>
              <a:rPr lang="en-US" dirty="0" err="1"/>
              <a:t>nsets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30469-5298-674E-A9D5-8CF55776F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0" y="2294929"/>
            <a:ext cx="4483330" cy="3920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E4B1FF-EB59-D790-B43C-201071F40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867" y="2294930"/>
            <a:ext cx="4534133" cy="392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18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16E59-C237-3397-18CA-5768B9B16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872E0-56B7-9A4B-828C-659F434F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EEE71E-5DFC-24BB-2A1E-E478F52CD7F8}"/>
              </a:ext>
            </a:extLst>
          </p:cNvPr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C1EA8-F391-721B-B6CA-AA248C44FE9E}"/>
              </a:ext>
            </a:extLst>
          </p:cNvPr>
          <p:cNvSpPr txBox="1"/>
          <p:nvPr/>
        </p:nvSpPr>
        <p:spPr>
          <a:xfrm>
            <a:off x="842133" y="1671617"/>
            <a:ext cx="2825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DCache</a:t>
            </a:r>
            <a:r>
              <a:rPr lang="en-US" dirty="0"/>
              <a:t> Hit Rate vs </a:t>
            </a:r>
            <a:r>
              <a:rPr lang="en-US" dirty="0" err="1"/>
              <a:t>bsize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6D69B-3614-4485-E84E-335045F4CF5A}"/>
              </a:ext>
            </a:extLst>
          </p:cNvPr>
          <p:cNvSpPr txBox="1"/>
          <p:nvPr/>
        </p:nvSpPr>
        <p:spPr>
          <a:xfrm>
            <a:off x="5393933" y="1671617"/>
            <a:ext cx="3380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DCache</a:t>
            </a:r>
            <a:r>
              <a:rPr lang="en-US" dirty="0"/>
              <a:t> Hit Rate vs Associativity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0AFE1F-1A03-AA87-9869-A4552A775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3" y="2294928"/>
            <a:ext cx="4534133" cy="39209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74BE65-9A6B-55C2-49C0-E4C016344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867" y="2294928"/>
            <a:ext cx="4534133" cy="392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67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0FDE0-5971-984A-D2D3-BCA57A6E6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16F49-6D51-3803-5800-9AE8CF3B9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989DD6-D99D-5812-0E38-EF4283552666}"/>
              </a:ext>
            </a:extLst>
          </p:cNvPr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AB80F6-CA6A-44E6-0F71-0D8DC3E40794}"/>
              </a:ext>
            </a:extLst>
          </p:cNvPr>
          <p:cNvSpPr txBox="1"/>
          <p:nvPr/>
        </p:nvSpPr>
        <p:spPr>
          <a:xfrm>
            <a:off x="842133" y="1671617"/>
            <a:ext cx="2825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ICache</a:t>
            </a:r>
            <a:r>
              <a:rPr lang="en-US" dirty="0"/>
              <a:t> Hit Rate vs </a:t>
            </a:r>
            <a:r>
              <a:rPr lang="en-US" dirty="0" err="1"/>
              <a:t>nsets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A8D21B-CE7F-F0B3-28A5-58DF0FF9C0D8}"/>
              </a:ext>
            </a:extLst>
          </p:cNvPr>
          <p:cNvSpPr txBox="1"/>
          <p:nvPr/>
        </p:nvSpPr>
        <p:spPr>
          <a:xfrm>
            <a:off x="5393933" y="1671617"/>
            <a:ext cx="3380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ICache</a:t>
            </a:r>
            <a:r>
              <a:rPr lang="en-US" dirty="0"/>
              <a:t> Hit Rate vs </a:t>
            </a:r>
            <a:r>
              <a:rPr lang="en-US" dirty="0" err="1"/>
              <a:t>bsize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BBCB13-2768-4B23-BCA8-C73C96157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37" y="2294928"/>
            <a:ext cx="4483330" cy="3920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EEDA81-C5DC-5C88-3CA3-A08DC1DD3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173" y="2294927"/>
            <a:ext cx="4464279" cy="392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01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C0898-95A6-50E2-63BB-2A4BBB30C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34808-3439-EFE6-BFAD-1623F5FB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8FE1AA-57F2-DC26-53C1-BFE8349A7A17}"/>
              </a:ext>
            </a:extLst>
          </p:cNvPr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D25EE8-EEF8-EC1C-1D59-EA25427AC65A}"/>
              </a:ext>
            </a:extLst>
          </p:cNvPr>
          <p:cNvSpPr txBox="1"/>
          <p:nvPr/>
        </p:nvSpPr>
        <p:spPr>
          <a:xfrm>
            <a:off x="3083797" y="1671617"/>
            <a:ext cx="310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ICache</a:t>
            </a:r>
            <a:r>
              <a:rPr lang="en-US" dirty="0"/>
              <a:t> Hit Rate vs Associativity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7D5699-0699-AF37-AA50-EB9DAA79C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704" y="2294926"/>
            <a:ext cx="4483330" cy="392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55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162D4E"/>
                </a:solidFill>
                <a:latin typeface="Calibri"/>
              </a:rPr>
              <a:t>Part IV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323232"/>
                </a:solidFill>
                <a:latin typeface="Calibri"/>
              </a:rPr>
              <a:t>Designed an optimized processor configuration for ijpeg.ss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Constraints Applied: bimod predictor only, in-order issue, and 512B total memory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Allocated 7 shared units among IFQ, decode width, and issue width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Evaluated multiple valid processor configurations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186"/>
            <a:ext cx="8229600" cy="1143000"/>
          </a:xfrm>
        </p:spPr>
        <p:txBody>
          <a:bodyPr>
            <a:normAutofit/>
          </a:bodyPr>
          <a:lstStyle/>
          <a:p>
            <a:r>
              <a:rPr sz="3600" b="1">
                <a:solidFill>
                  <a:srgbClr val="162D4E"/>
                </a:solidFill>
                <a:latin typeface="Calibri"/>
              </a:rPr>
              <a:t>Part IV Final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0748"/>
            <a:ext cx="8229600" cy="4525963"/>
          </a:xfrm>
        </p:spPr>
        <p:txBody>
          <a:bodyPr>
            <a:normAutofit/>
          </a:bodyPr>
          <a:lstStyle/>
          <a:p>
            <a:r>
              <a:rPr sz="2400">
                <a:solidFill>
                  <a:srgbClr val="323232"/>
                </a:solidFill>
                <a:latin typeface="Calibri"/>
              </a:rPr>
              <a:t>Compared sim_cycle values across all evaluated configurations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Selected the processor configuration with minimum execution cycles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Balanced predictor, cache, and pipeline width parameters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Provided detailed justification for the final optimized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0548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4695-CC00-48F5-BA9F-0ECA9800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60320E4-7575-E40B-76C3-47FD0EF5CC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6426531"/>
              </p:ext>
            </p:extLst>
          </p:nvPr>
        </p:nvGraphicFramePr>
        <p:xfrm>
          <a:off x="133564" y="2392926"/>
          <a:ext cx="8630291" cy="3966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2837BC-4398-8278-9F34-BA90EA4CDBF7}"/>
              </a:ext>
            </a:extLst>
          </p:cNvPr>
          <p:cNvSpPr txBox="1"/>
          <p:nvPr/>
        </p:nvSpPr>
        <p:spPr>
          <a:xfrm>
            <a:off x="1890445" y="1417638"/>
            <a:ext cx="6072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Comparison of Different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3634647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5F7CF-7D88-1BF2-5B9E-80B851AC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BC3E6-04CF-335B-C975-9A1FA5574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62D4E"/>
                </a:solidFill>
                <a:latin typeface="Calibri"/>
              </a:rPr>
              <a:t>Results</a:t>
            </a:r>
            <a:endParaRPr lang="en-AU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388FAE-52AF-DE92-B075-C112AB1F4BBF}"/>
              </a:ext>
            </a:extLst>
          </p:cNvPr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8309A-19F0-387C-0506-B79A50FDFAB8}"/>
              </a:ext>
            </a:extLst>
          </p:cNvPr>
          <p:cNvSpPr txBox="1"/>
          <p:nvPr/>
        </p:nvSpPr>
        <p:spPr>
          <a:xfrm>
            <a:off x="1890445" y="1417638"/>
            <a:ext cx="6072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Comparison of Different Configurations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2BCCC-D8D3-D01B-A4DC-3108F9B95E2D}"/>
              </a:ext>
            </a:extLst>
          </p:cNvPr>
          <p:cNvSpPr txBox="1"/>
          <p:nvPr/>
        </p:nvSpPr>
        <p:spPr>
          <a:xfrm>
            <a:off x="1479479" y="2393879"/>
            <a:ext cx="693505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comparing the simulation cycles of all tried configurations, we found that Configuration C gave the minimum cycles. Although, the difference was not too significant, C turns out to be the optimum Processor.</a:t>
            </a:r>
          </a:p>
          <a:p>
            <a:endParaRPr lang="en-US" dirty="0"/>
          </a:p>
          <a:p>
            <a:r>
              <a:rPr lang="en-US" dirty="0"/>
              <a:t>Details are as following: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IFQ: 4		Decode Width: 2		Issue Width:1</a:t>
            </a:r>
          </a:p>
          <a:p>
            <a:r>
              <a:rPr lang="en-US" dirty="0"/>
              <a:t>Sim Cycles: 1316840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All configurations were tried keeping the given constraints in view.</a:t>
            </a:r>
          </a:p>
        </p:txBody>
      </p:sp>
    </p:spTree>
    <p:extLst>
      <p:ext uri="{BB962C8B-B14F-4D97-AF65-F5344CB8AC3E}">
        <p14:creationId xmlns:p14="http://schemas.microsoft.com/office/powerpoint/2010/main" val="3280076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162D4E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323232"/>
                </a:solidFill>
                <a:latin typeface="Calibri"/>
              </a:rPr>
              <a:t>The project was successfully completed through simulation-based evaluation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Results were validated using tables, graphs, and comparative analyses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The optimal processor configuration was selected based on minimum sim_cycle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SimpleScalar provided comprehensive architectural performance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5460"/>
            <a:ext cx="8229600" cy="1143000"/>
          </a:xfrm>
        </p:spPr>
        <p:txBody>
          <a:bodyPr>
            <a:normAutofit/>
          </a:bodyPr>
          <a:lstStyle/>
          <a:p>
            <a:r>
              <a:rPr sz="3600" b="1">
                <a:solidFill>
                  <a:srgbClr val="162D4E"/>
                </a:solidFill>
                <a:latin typeface="Calibri"/>
              </a:rP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1022"/>
            <a:ext cx="8229600" cy="4525963"/>
          </a:xfrm>
        </p:spPr>
        <p:txBody>
          <a:bodyPr>
            <a:normAutofit/>
          </a:bodyPr>
          <a:lstStyle/>
          <a:p>
            <a:r>
              <a:rPr sz="2400">
                <a:solidFill>
                  <a:srgbClr val="323232"/>
                </a:solidFill>
                <a:latin typeface="Calibri"/>
              </a:rPr>
              <a:t>• Successfully analyzed processor performance using SimpleScalar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• Evaluated cache and branch predictor configurations systematically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• Compared architectural trade-offs using CPI and execution cycles</a:t>
            </a:r>
          </a:p>
          <a:p>
            <a:r>
              <a:rPr sz="2400">
                <a:solidFill>
                  <a:srgbClr val="323232"/>
                </a:solidFill>
                <a:latin typeface="Calibri"/>
              </a:rPr>
              <a:t>• Identified an optimized processor design under given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0822"/>
            <a:ext cx="9144000" cy="228600"/>
          </a:xfrm>
          <a:prstGeom prst="rect">
            <a:avLst/>
          </a:prstGeom>
          <a:solidFill>
            <a:srgbClr val="162D4E"/>
          </a:solidFill>
          <a:ln>
            <a:solidFill>
              <a:srgbClr val="16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759</Words>
  <Application>Microsoft Office PowerPoint</Application>
  <PresentationFormat>On-screen Show (4:3)</PresentationFormat>
  <Paragraphs>127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COA/CA Project Methodology</vt:lpstr>
      <vt:lpstr>Project Workflow</vt:lpstr>
      <vt:lpstr>Part I Methodology</vt:lpstr>
      <vt:lpstr>Part I Output Analysis</vt:lpstr>
      <vt:lpstr>Results</vt:lpstr>
      <vt:lpstr>PowerPoint Presentation</vt:lpstr>
      <vt:lpstr>PowerPoint Presentation</vt:lpstr>
      <vt:lpstr>PowerPoint Presentation</vt:lpstr>
      <vt:lpstr>Part II(a) Methodology</vt:lpstr>
      <vt:lpstr>Part II(a) Analysis</vt:lpstr>
      <vt:lpstr>Results</vt:lpstr>
      <vt:lpstr>Results</vt:lpstr>
      <vt:lpstr>Part II(b) BTB Methodology</vt:lpstr>
      <vt:lpstr>Results</vt:lpstr>
      <vt:lpstr>Results</vt:lpstr>
      <vt:lpstr>Part III Methodology</vt:lpstr>
      <vt:lpstr>Part III Cache Analysis</vt:lpstr>
      <vt:lpstr>Results</vt:lpstr>
      <vt:lpstr>Results</vt:lpstr>
      <vt:lpstr>Results</vt:lpstr>
      <vt:lpstr>Results</vt:lpstr>
      <vt:lpstr>Results</vt:lpstr>
      <vt:lpstr>Results</vt:lpstr>
      <vt:lpstr>Results</vt:lpstr>
      <vt:lpstr>Part IV Methodology</vt:lpstr>
      <vt:lpstr>Part IV Final Selection</vt:lpstr>
      <vt:lpstr>Results</vt:lpstr>
      <vt:lpstr>Results</vt:lpstr>
      <vt:lpstr>Conclusion</vt:lpstr>
      <vt:lpstr>Key Achievements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COA/CA Project Methodology</dc:title>
  <dc:subject/>
  <dc:creator/>
  <cp:keywords/>
  <dc:description>generated using python-pptx</dc:description>
  <cp:lastModifiedBy>Ameer Shahbaz</cp:lastModifiedBy>
  <cp:revision>21</cp:revision>
  <dcterms:created xsi:type="dcterms:W3CDTF">2013-01-27T09:14:16Z</dcterms:created>
  <dcterms:modified xsi:type="dcterms:W3CDTF">2026-07-15T21:35:29Z</dcterms:modified>
  <cp:category/>
</cp:coreProperties>
</file>